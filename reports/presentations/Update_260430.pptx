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  <p:sldId id="267" r:id="rId12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4B88D-F182-5552-1817-96B666A2C4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55024C-9E47-4963-D29D-3548896822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A3BB2-F226-80AB-BDEA-6540DC601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786B9-6B29-42E0-B605-A903E62F7DA1}" type="datetimeFigureOut">
              <a:rPr lang="nl-BE" smtClean="0"/>
              <a:t>30/04/2026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782E7-0F77-44EF-1377-A0C75B39B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693C5-A9E7-5059-4096-6563E63E1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D451-3B2F-4FD8-9914-37BBC0F1F693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15687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6F407-6C17-B17A-B35F-CBFD0E15A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9DF74-5D2F-3931-A50D-AD900463F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CA399-48FB-AD5B-6618-2065D553E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786B9-6B29-42E0-B605-A903E62F7DA1}" type="datetimeFigureOut">
              <a:rPr lang="nl-BE" smtClean="0"/>
              <a:t>30/04/2026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E36D6-65DE-64F3-E1E7-C517AADFF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2E793-B4D5-BC5E-F769-67851238A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D451-3B2F-4FD8-9914-37BBC0F1F693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49774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30D62-954F-DF66-D0D9-89DD30CF4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C65EA-4DC0-D3B7-BF53-B8B8951CDA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821E2-8C77-65BB-0BB3-0C8FB824A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786B9-6B29-42E0-B605-A903E62F7DA1}" type="datetimeFigureOut">
              <a:rPr lang="nl-BE" smtClean="0"/>
              <a:t>30/04/2026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948D46-4DB6-430C-F352-8868EC555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01B9A-DD51-E69B-69DD-7932B3642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D451-3B2F-4FD8-9914-37BBC0F1F693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499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50C87-B960-4E07-4122-B62166AFD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01F08-6325-3F1B-85F3-D76A9BABDB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4CBEEE-F49C-DF4A-A8C3-21C0EB8AF9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75F126-63C5-E408-8805-728E10497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786B9-6B29-42E0-B605-A903E62F7DA1}" type="datetimeFigureOut">
              <a:rPr lang="nl-BE" smtClean="0"/>
              <a:t>30/04/2026</a:t>
            </a:fld>
            <a:endParaRPr lang="nl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EC91D1-68BA-07FB-B9A0-D008588CB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DFAAF2-D0C2-CE42-4D73-A32953BD0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D451-3B2F-4FD8-9914-37BBC0F1F693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03971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ED24B-7CE5-3F7D-B85D-48414F5B6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DEC1C3-3960-16CD-B308-E33D09FD8B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EBFB12-96AC-7A45-7555-A4F227AA2E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57F446-2C95-58F8-239C-565EC93FA3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24B0DD-5109-9823-8D47-BE8A9A4FD7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9C1736-91D1-FACD-C515-DF8D094EE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786B9-6B29-42E0-B605-A903E62F7DA1}" type="datetimeFigureOut">
              <a:rPr lang="nl-BE" smtClean="0"/>
              <a:t>30/04/2026</a:t>
            </a:fld>
            <a:endParaRPr lang="nl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D09260-CAE1-8859-3F4A-3EBB2959C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CA32EE-42B3-E026-E5EF-611B1AF96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D451-3B2F-4FD8-9914-37BBC0F1F693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47326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067C3-2923-208F-2F06-BF3EA0206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33AFF8-76EA-AD55-3D3E-2E8222888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786B9-6B29-42E0-B605-A903E62F7DA1}" type="datetimeFigureOut">
              <a:rPr lang="nl-BE" smtClean="0"/>
              <a:t>30/04/2026</a:t>
            </a:fld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14A3E2-5E7E-E54D-AC91-B321761D9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76D56A-F217-2F72-7E9A-1A2530D94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D451-3B2F-4FD8-9914-37BBC0F1F693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52711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C6CF5E-C78B-C5C8-9966-536D45EEF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786B9-6B29-42E0-B605-A903E62F7DA1}" type="datetimeFigureOut">
              <a:rPr lang="nl-BE" smtClean="0"/>
              <a:t>30/04/2026</a:t>
            </a:fld>
            <a:endParaRPr lang="nl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E95372-0AB0-F2A2-B44E-5C9BB13AA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2F912E-A2C0-8A33-FA2F-7E9AC0887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D451-3B2F-4FD8-9914-37BBC0F1F693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01994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83A1C-9E0C-ED34-3CEF-C6C91BD85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8E3BB-98F5-D161-3787-092A85BC42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246543-A54D-E51F-26C6-F68E1F4B08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F2F504-4D28-36B7-1C1D-4DA0C27CF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786B9-6B29-42E0-B605-A903E62F7DA1}" type="datetimeFigureOut">
              <a:rPr lang="nl-BE" smtClean="0"/>
              <a:t>30/04/2026</a:t>
            </a:fld>
            <a:endParaRPr lang="nl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CB2CF1-A9A8-9287-516D-2393007A7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34E92F-B732-B9D3-A0AC-9C361C0AB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D451-3B2F-4FD8-9914-37BBC0F1F693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81339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B7377-A83A-D1E1-2F97-F685F80C9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128E91-215B-D651-2800-AB664B2F39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2D5154-F4D1-1AE9-245D-11E48575B3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01F622-EF37-05A7-8CC8-F7FCAFF8D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786B9-6B29-42E0-B605-A903E62F7DA1}" type="datetimeFigureOut">
              <a:rPr lang="nl-BE" smtClean="0"/>
              <a:t>30/04/2026</a:t>
            </a:fld>
            <a:endParaRPr lang="nl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99E35A-5B92-FBC6-8ADA-0479C5FF5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923566-9848-0AB8-355F-889E339AD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D451-3B2F-4FD8-9914-37BBC0F1F693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55070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71F64-D038-DA48-86EA-6AFCEF368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510CA9-9CD6-8E4D-504E-9D566870AB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DBFD5-7E48-9EED-A654-ABC2C7324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786B9-6B29-42E0-B605-A903E62F7DA1}" type="datetimeFigureOut">
              <a:rPr lang="nl-BE" smtClean="0"/>
              <a:t>30/04/2026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559EEA-76A0-08E3-F5C8-14658B5A5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DBE1B-7E59-1C97-6DAB-C3770DAB5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D451-3B2F-4FD8-9914-37BBC0F1F693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9080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E4FEDD-63C2-D35C-27F3-3B6350D50B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134762-4688-BA25-C5A6-1E877553A4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76E7C-F9E9-8CED-0BB9-2D7966C89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786B9-6B29-42E0-B605-A903E62F7DA1}" type="datetimeFigureOut">
              <a:rPr lang="nl-BE" smtClean="0"/>
              <a:t>30/04/2026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15502-339C-6701-7DF8-DFF84710A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AFDF8-AA5A-0EC8-945D-FA2DD7B0A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D451-3B2F-4FD8-9914-37BBC0F1F693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82878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631772-81D4-C9B6-66AB-9FE228E46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55F2F4-7613-4E08-31D9-C062DE2355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27EC11-D7D4-EDCD-1C62-2B7045E8D6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0786B9-6B29-42E0-B605-A903E62F7DA1}" type="datetimeFigureOut">
              <a:rPr lang="nl-BE" smtClean="0"/>
              <a:t>30/04/2026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56D543-9042-D0E1-9D3C-75F0B39DB5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AC4C0-9745-4648-771D-AA1C8EBF25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5ED451-3B2F-4FD8-9914-37BBC0F1F693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87804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C97CC-2E1F-D091-F9C9-6004025D56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Cell proportion estimation</a:t>
            </a:r>
            <a:endParaRPr lang="nl-B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6F5E77-DBCA-7A0C-F43D-8DE4558264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Update 31 April 2026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343128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8B315-1C4F-18E0-036D-00A4C96D9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US" sz="3400"/>
              <a:t>Accuracy Metrics</a:t>
            </a:r>
            <a:endParaRPr lang="nl-BE" sz="34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A2B07A-C070-B16B-5F7B-C59BEC342D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1479" y="2684095"/>
                <a:ext cx="5267426" cy="3492868"/>
              </a:xfrm>
            </p:spPr>
            <p:txBody>
              <a:bodyPr>
                <a:normAutofit/>
              </a:bodyPr>
              <a:lstStyle/>
              <a:p>
                <a:r>
                  <a:rPr lang="en-US" sz="2200" dirty="0"/>
                  <a:t>Absolute Error (AE):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sz="2200" b="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200" b="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200" b="0" i="1">
                        <a:latin typeface="Cambria Math" panose="02040503050406030204" pitchFamily="18" charset="0"/>
                      </a:rPr>
                      <m:t> −</m:t>
                    </m:r>
                    <m:acc>
                      <m:accPr>
                        <m:chr m:val="̂"/>
                        <m:ctrlPr>
                          <a:rPr lang="en-US" sz="2200" b="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b="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200" b="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acc>
                  </m:oMath>
                </a14:m>
                <a:endParaRPr lang="en-US" sz="2200" b="0" dirty="0"/>
              </a:p>
              <a:p>
                <a:pPr lvl="1"/>
                <a:r>
                  <a:rPr lang="nl-BE" sz="2200" dirty="0"/>
                  <a:t>Error is small </a:t>
                </a:r>
                <a:r>
                  <a:rPr lang="nl-BE" sz="2200" dirty="0" err="1"/>
                  <a:t>for</a:t>
                </a:r>
                <a:r>
                  <a:rPr lang="nl-BE" sz="2200" dirty="0"/>
                  <a:t> small </a:t>
                </a:r>
                <a:r>
                  <a:rPr lang="nl-BE" sz="2200" dirty="0" err="1"/>
                  <a:t>proportions</a:t>
                </a:r>
                <a:endParaRPr lang="nl-BE" sz="2200" dirty="0"/>
              </a:p>
              <a:p>
                <a:r>
                  <a:rPr lang="nl-BE" sz="2200" dirty="0"/>
                  <a:t>Absolute </a:t>
                </a:r>
                <a:r>
                  <a:rPr lang="nl-BE" sz="2200" dirty="0" err="1"/>
                  <a:t>Relative</a:t>
                </a:r>
                <a:r>
                  <a:rPr lang="nl-BE" sz="2200" dirty="0"/>
                  <a:t> Error (ARE):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l-BE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200" b="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200" b="0" i="1">
                            <a:latin typeface="Cambria Math" panose="02040503050406030204" pitchFamily="18" charset="0"/>
                          </a:rPr>
                          <m:t> −</m:t>
                        </m:r>
                        <m:acc>
                          <m:accPr>
                            <m:chr m:val="̂"/>
                            <m:ctrlPr>
                              <a:rPr lang="en-US" sz="2200" b="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b="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r>
                          <a:rPr lang="en-US" sz="2200" b="0" i="1"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US" sz="2200" b="0" i="1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endParaRPr lang="nl-BE" sz="2200" dirty="0"/>
              </a:p>
              <a:p>
                <a:pPr lvl="1"/>
                <a:r>
                  <a:rPr lang="nl-BE" sz="2200" dirty="0"/>
                  <a:t>Error </a:t>
                </a:r>
                <a:r>
                  <a:rPr lang="nl-BE" sz="2200" dirty="0" err="1"/>
                  <a:t>becomes</a:t>
                </a:r>
                <a:r>
                  <a:rPr lang="nl-BE" sz="2200" dirty="0"/>
                  <a:t> large </a:t>
                </a:r>
                <a:r>
                  <a:rPr lang="nl-BE" sz="2200" dirty="0" err="1"/>
                  <a:t>for</a:t>
                </a:r>
                <a:r>
                  <a:rPr lang="nl-BE" sz="2200" dirty="0"/>
                  <a:t> small </a:t>
                </a:r>
                <a:r>
                  <a:rPr lang="nl-BE" sz="2200" dirty="0" err="1"/>
                  <a:t>proportions</a:t>
                </a:r>
                <a:endParaRPr lang="nl-BE" sz="2200" dirty="0"/>
              </a:p>
              <a:p>
                <a:pPr lvl="1"/>
                <a:endParaRPr lang="nl-BE" sz="2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A2B07A-C070-B16B-5F7B-C59BEC342D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1479" y="2684095"/>
                <a:ext cx="5267426" cy="3492868"/>
              </a:xfrm>
              <a:blipFill>
                <a:blip r:embed="rId2"/>
                <a:stretch>
                  <a:fillRect l="-1272" t="-1920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D1504B23-BF85-61D2-1A76-E186C1515F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48401" y="1368207"/>
            <a:ext cx="5522677" cy="4426385"/>
          </a:xfrm>
          <a:prstGeom prst="rect">
            <a:avLst/>
          </a:prstGeom>
        </p:spPr>
      </p:pic>
      <p:sp>
        <p:nvSpPr>
          <p:cNvPr id="4" name="AutoShape 2">
            <a:extLst>
              <a:ext uri="{FF2B5EF4-FFF2-40B4-BE49-F238E27FC236}">
                <a16:creationId xmlns:a16="http://schemas.microsoft.com/office/drawing/2014/main" id="{5A97799E-0883-A172-781D-CC6FE641AB0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36872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90CA2-49F0-32CC-1158-F74AAEABF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simulation study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FF3F4-7EF9-D7A2-5C85-3C91D1C39E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 simulations:</a:t>
            </a:r>
          </a:p>
          <a:p>
            <a:pPr lvl="1"/>
            <a:r>
              <a:rPr lang="en-US" dirty="0"/>
              <a:t>1 donor</a:t>
            </a:r>
          </a:p>
          <a:p>
            <a:pPr lvl="1"/>
            <a:r>
              <a:rPr lang="en-US" dirty="0"/>
              <a:t>1 proportion to estimate</a:t>
            </a:r>
          </a:p>
          <a:p>
            <a:pPr lvl="1"/>
            <a:r>
              <a:rPr lang="en-US" dirty="0"/>
              <a:t>No overdispersion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 Binomial distribution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953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73ECA2-ABAA-B263-B547-FAEDA275A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6600" dirty="0"/>
              <a:t>Distribution of ARE and AE are dependent on p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81E59B-268A-B466-9A0C-05944D4656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042" y="2108426"/>
            <a:ext cx="5925910" cy="4749574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D3037A-0233-7A9E-2BBB-6DC132103C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9533"/>
            <a:ext cx="5986914" cy="4798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750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190D3-ECEE-FBA3-381B-C7F0FAC84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possible error metrics</a:t>
            </a:r>
            <a:endParaRPr lang="nl-B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B69A0C-F415-D11A-2762-08BE4E0576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Standardized error: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−</m:t>
                        </m:r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nl-BE" dirty="0"/>
              </a:p>
              <a:p>
                <a:pPr lvl="1"/>
                <a:r>
                  <a:rPr lang="nl-BE" dirty="0" err="1"/>
                  <a:t>Stabilizes</a:t>
                </a:r>
                <a:r>
                  <a:rPr lang="nl-BE" dirty="0"/>
                  <a:t> </a:t>
                </a:r>
                <a:r>
                  <a:rPr lang="nl-BE" dirty="0" err="1"/>
                  <a:t>variance</a:t>
                </a:r>
                <a:r>
                  <a:rPr lang="nl-BE" dirty="0"/>
                  <a:t> </a:t>
                </a:r>
                <a:r>
                  <a:rPr lang="nl-BE" dirty="0" err="1"/>
                  <a:t>for</a:t>
                </a:r>
                <a:r>
                  <a:rPr lang="nl-BE" dirty="0"/>
                  <a:t> </a:t>
                </a:r>
                <a:r>
                  <a:rPr lang="nl-BE" dirty="0" err="1"/>
                  <a:t>binomial</a:t>
                </a:r>
                <a:r>
                  <a:rPr lang="nl-BE" dirty="0"/>
                  <a:t> </a:t>
                </a:r>
                <a:r>
                  <a:rPr lang="nl-BE" dirty="0" err="1"/>
                  <a:t>distributed</a:t>
                </a:r>
                <a:r>
                  <a:rPr lang="nl-BE" dirty="0"/>
                  <a:t> p</a:t>
                </a:r>
              </a:p>
              <a:p>
                <a:r>
                  <a:rPr lang="nl-BE" dirty="0"/>
                  <a:t>Log Absolute Error: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 |)</m:t>
                    </m:r>
                  </m:oMath>
                </a14:m>
                <a:endParaRPr lang="en-US" b="0" dirty="0"/>
              </a:p>
              <a:p>
                <a:pPr lvl="1"/>
                <a:r>
                  <a:rPr lang="nl-BE" dirty="0"/>
                  <a:t>Log </a:t>
                </a:r>
                <a:r>
                  <a:rPr lang="nl-BE" dirty="0" err="1"/>
                  <a:t>stabilizes</a:t>
                </a:r>
                <a:r>
                  <a:rPr lang="nl-BE" dirty="0"/>
                  <a:t> </a:t>
                </a:r>
                <a:r>
                  <a:rPr lang="nl-BE" dirty="0" err="1"/>
                  <a:t>variance</a:t>
                </a:r>
                <a:r>
                  <a:rPr lang="nl-BE" dirty="0"/>
                  <a:t> </a:t>
                </a:r>
                <a:r>
                  <a:rPr lang="nl-BE" dirty="0" err="1"/>
                  <a:t>for</a:t>
                </a:r>
                <a:r>
                  <a:rPr lang="nl-BE" dirty="0"/>
                  <a:t> AE </a:t>
                </a:r>
                <a:r>
                  <a:rPr lang="nl-BE" dirty="0" err="1"/>
                  <a:t>for</a:t>
                </a:r>
                <a:r>
                  <a:rPr lang="nl-BE" dirty="0"/>
                  <a:t> (</a:t>
                </a:r>
                <a:r>
                  <a:rPr lang="nl-BE" dirty="0" err="1"/>
                  <a:t>beta</a:t>
                </a:r>
                <a:r>
                  <a:rPr lang="nl-BE" dirty="0"/>
                  <a:t>) </a:t>
                </a:r>
                <a:r>
                  <a:rPr lang="nl-BE" dirty="0" err="1"/>
                  <a:t>binomial</a:t>
                </a:r>
                <a:r>
                  <a:rPr lang="nl-BE" dirty="0"/>
                  <a:t> </a:t>
                </a:r>
                <a:r>
                  <a:rPr lang="nl-BE" dirty="0" err="1"/>
                  <a:t>distribution</a:t>
                </a:r>
                <a:endParaRPr lang="nl-BE" dirty="0"/>
              </a:p>
              <a:p>
                <a:pPr lvl="1"/>
                <a:r>
                  <a:rPr lang="nl-BE" dirty="0"/>
                  <a:t>Through Delta Method + Large sample </a:t>
                </a:r>
                <a:r>
                  <a:rPr lang="nl-BE" dirty="0" err="1"/>
                  <a:t>approximation</a:t>
                </a:r>
                <a:endParaRPr lang="nl-BE" dirty="0"/>
              </a:p>
              <a:p>
                <a:r>
                  <a:rPr lang="nl-BE" dirty="0" err="1"/>
                  <a:t>Transformed</a:t>
                </a:r>
                <a:r>
                  <a:rPr lang="nl-BE" dirty="0"/>
                  <a:t> </a:t>
                </a:r>
                <a:r>
                  <a:rPr lang="nl-BE" dirty="0" err="1"/>
                  <a:t>Squared</a:t>
                </a:r>
                <a:r>
                  <a:rPr lang="nl-BE" dirty="0"/>
                  <a:t> Error: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asinh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𝑝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e>
                        </m:d>
                      </m:e>
                    </m:func>
                  </m:oMath>
                </a14:m>
                <a:endParaRPr lang="en-US" b="0" dirty="0"/>
              </a:p>
              <a:p>
                <a:pPr lvl="1"/>
                <a:r>
                  <a:rPr lang="nl-BE" dirty="0" err="1"/>
                  <a:t>Transformation</a:t>
                </a:r>
                <a:r>
                  <a:rPr lang="nl-BE" dirty="0"/>
                  <a:t> </a:t>
                </a:r>
                <a:r>
                  <a:rPr lang="nl-BE" dirty="0" err="1"/>
                  <a:t>stabilizes</a:t>
                </a:r>
                <a:r>
                  <a:rPr lang="nl-BE" dirty="0"/>
                  <a:t> </a:t>
                </a:r>
                <a:r>
                  <a:rPr lang="nl-BE" dirty="0" err="1"/>
                  <a:t>variance</a:t>
                </a:r>
                <a:r>
                  <a:rPr lang="nl-BE" dirty="0"/>
                  <a:t> </a:t>
                </a:r>
                <a:r>
                  <a:rPr lang="nl-BE" dirty="0" err="1"/>
                  <a:t>for</a:t>
                </a:r>
                <a:r>
                  <a:rPr lang="nl-BE" dirty="0"/>
                  <a:t> (</a:t>
                </a:r>
                <a:r>
                  <a:rPr lang="nl-BE" dirty="0" err="1"/>
                  <a:t>beta</a:t>
                </a:r>
                <a:r>
                  <a:rPr lang="nl-BE" dirty="0"/>
                  <a:t>) </a:t>
                </a:r>
                <a:r>
                  <a:rPr lang="nl-BE" dirty="0" err="1"/>
                  <a:t>binomial</a:t>
                </a:r>
                <a:r>
                  <a:rPr lang="nl-BE" dirty="0"/>
                  <a:t> </a:t>
                </a:r>
                <a:r>
                  <a:rPr lang="nl-BE" dirty="0" err="1"/>
                  <a:t>distribution</a:t>
                </a:r>
                <a:endParaRPr lang="nl-BE" dirty="0"/>
              </a:p>
              <a:p>
                <a:pPr lvl="1"/>
                <a:r>
                  <a:rPr lang="nl-BE" dirty="0"/>
                  <a:t>Through Delta Method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B69A0C-F415-D11A-2762-08BE4E0576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8861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9DDF3-D496-0380-BFA9-5F49BF24E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variance stabilization 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CF59C-9AC4-BC75-D96A-3801D02D5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Comparison over different values of p becomes possible</a:t>
            </a:r>
          </a:p>
          <a:p>
            <a:r>
              <a:rPr lang="en-US" dirty="0"/>
              <a:t>When combining over multiple proportions: higher variance proportions will dominate the error.</a:t>
            </a:r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5058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B87E1-BE46-5921-94F1-8EE6C78AD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Absolute Standardized Error</a:t>
            </a:r>
            <a:endParaRPr lang="nl-B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798BF5-DA2D-044B-86E0-153ED48377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5429043" cy="43513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6AD6024-D664-36D6-FCA9-A9FCA1B0C21D}"/>
                  </a:ext>
                </a:extLst>
              </p:cNvPr>
              <p:cNvSpPr txBox="1"/>
              <p:nvPr/>
            </p:nvSpPr>
            <p:spPr>
              <a:xfrm>
                <a:off x="2830345" y="6042026"/>
                <a:ext cx="2299439" cy="6978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𝐴𝑆𝐸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nl-BE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</m:t>
                          </m:r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6AD6024-D664-36D6-FCA9-A9FCA1B0C2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0345" y="6042026"/>
                <a:ext cx="2299439" cy="6978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3E41CD57-B283-8CA0-8822-57F3CB7D5962}"/>
              </a:ext>
            </a:extLst>
          </p:cNvPr>
          <p:cNvSpPr txBox="1"/>
          <p:nvPr/>
        </p:nvSpPr>
        <p:spPr>
          <a:xfrm>
            <a:off x="6547104" y="1920240"/>
            <a:ext cx="51755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ASE distribution independent on 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Breaks down for small values of 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Might not handle Beta binomial as well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014988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4378A-39CB-B1D9-4A2E-942B79EC4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FF7C9-1024-279A-CEA0-C8D46002C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 Absolute Error</a:t>
            </a:r>
            <a:endParaRPr lang="nl-B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90B642-F30D-1625-8937-9F900DB8E1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1690688"/>
            <a:ext cx="5429043" cy="43513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4E72FA2-3E0B-4885-8895-B442A313C073}"/>
                  </a:ext>
                </a:extLst>
              </p:cNvPr>
              <p:cNvSpPr txBox="1"/>
              <p:nvPr/>
            </p:nvSpPr>
            <p:spPr>
              <a:xfrm>
                <a:off x="2830345" y="6042026"/>
                <a:ext cx="22994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𝐿𝐴𝐸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−</m:t>
                      </m:r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|)</m:t>
                      </m:r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4E72FA2-3E0B-4885-8895-B442A313C0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0345" y="6042026"/>
                <a:ext cx="2299439" cy="369332"/>
              </a:xfrm>
              <a:prstGeom prst="rect">
                <a:avLst/>
              </a:prstGeom>
              <a:blipFill>
                <a:blip r:embed="rId3"/>
                <a:stretch>
                  <a:fillRect t="-6557" b="-13115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91F61E8A-5BD6-1EC3-FFCA-5D6B08786517}"/>
              </a:ext>
            </a:extLst>
          </p:cNvPr>
          <p:cNvSpPr txBox="1"/>
          <p:nvPr/>
        </p:nvSpPr>
        <p:spPr>
          <a:xfrm>
            <a:off x="6267243" y="1938528"/>
            <a:ext cx="54290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Log Stabilizes Variance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Problematic when Absolute Error = 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Solution: add small perturbation</a:t>
            </a:r>
          </a:p>
        </p:txBody>
      </p:sp>
    </p:spTree>
    <p:extLst>
      <p:ext uri="{BB962C8B-B14F-4D97-AF65-F5344CB8AC3E}">
        <p14:creationId xmlns:p14="http://schemas.microsoft.com/office/powerpoint/2010/main" val="1527151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BB46A-1928-8427-A51C-728F7BFA6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C75D8-A7AC-9402-645F-8EA4588F4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Transformed Square Error</a:t>
            </a:r>
            <a:endParaRPr lang="nl-B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9B3118-FB1C-FA9F-BE83-1B60731230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1690688"/>
            <a:ext cx="5429043" cy="43513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B46B2C0-C515-3ED5-B972-AD7391548768}"/>
                  </a:ext>
                </a:extLst>
              </p:cNvPr>
              <p:cNvSpPr txBox="1"/>
              <p:nvPr/>
            </p:nvSpPr>
            <p:spPr>
              <a:xfrm>
                <a:off x="2075689" y="6042026"/>
                <a:ext cx="3054096" cy="5068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𝑇𝑆𝐸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asinh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ad>
                                <m:radPr>
                                  <m:deg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e>
                          </m:d>
                        </m:e>
                      </m:func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B46B2C0-C515-3ED5-B972-AD73915487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5689" y="6042026"/>
                <a:ext cx="3054096" cy="5068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B5C953D-C0E6-B5CF-1A66-21BAD37905FB}"/>
              </a:ext>
            </a:extLst>
          </p:cNvPr>
          <p:cNvSpPr txBox="1"/>
          <p:nvPr/>
        </p:nvSpPr>
        <p:spPr>
          <a:xfrm>
            <a:off x="6267243" y="1938528"/>
            <a:ext cx="5429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Transformation Stabilizes Variance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problems for error = 0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28499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9BDC3-161B-C7AB-92D9-E5982FE49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Distributional characteristics of error metrics</a:t>
            </a:r>
            <a:endParaRPr lang="nl-BE" dirty="0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69054FD7-0A2F-BC8D-0B0A-1D0D541E61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6247745"/>
              </p:ext>
            </p:extLst>
          </p:nvPr>
        </p:nvGraphicFramePr>
        <p:xfrm>
          <a:off x="76550" y="2103436"/>
          <a:ext cx="12038900" cy="310221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9587">
                  <a:extLst>
                    <a:ext uri="{9D8B030D-6E8A-4147-A177-3AD203B41FA5}">
                      <a16:colId xmlns:a16="http://schemas.microsoft.com/office/drawing/2014/main" val="2810540010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3431628350"/>
                    </a:ext>
                  </a:extLst>
                </a:gridCol>
                <a:gridCol w="754063">
                  <a:extLst>
                    <a:ext uri="{9D8B030D-6E8A-4147-A177-3AD203B41FA5}">
                      <a16:colId xmlns:a16="http://schemas.microsoft.com/office/drawing/2014/main" val="2542477326"/>
                    </a:ext>
                  </a:extLst>
                </a:gridCol>
                <a:gridCol w="696912">
                  <a:extLst>
                    <a:ext uri="{9D8B030D-6E8A-4147-A177-3AD203B41FA5}">
                      <a16:colId xmlns:a16="http://schemas.microsoft.com/office/drawing/2014/main" val="3271363327"/>
                    </a:ext>
                  </a:extLst>
                </a:gridCol>
                <a:gridCol w="604837">
                  <a:extLst>
                    <a:ext uri="{9D8B030D-6E8A-4147-A177-3AD203B41FA5}">
                      <a16:colId xmlns:a16="http://schemas.microsoft.com/office/drawing/2014/main" val="1022291767"/>
                    </a:ext>
                  </a:extLst>
                </a:gridCol>
                <a:gridCol w="858837">
                  <a:extLst>
                    <a:ext uri="{9D8B030D-6E8A-4147-A177-3AD203B41FA5}">
                      <a16:colId xmlns:a16="http://schemas.microsoft.com/office/drawing/2014/main" val="532418044"/>
                    </a:ext>
                  </a:extLst>
                </a:gridCol>
                <a:gridCol w="727075">
                  <a:extLst>
                    <a:ext uri="{9D8B030D-6E8A-4147-A177-3AD203B41FA5}">
                      <a16:colId xmlns:a16="http://schemas.microsoft.com/office/drawing/2014/main" val="1982275206"/>
                    </a:ext>
                  </a:extLst>
                </a:gridCol>
                <a:gridCol w="727075">
                  <a:extLst>
                    <a:ext uri="{9D8B030D-6E8A-4147-A177-3AD203B41FA5}">
                      <a16:colId xmlns:a16="http://schemas.microsoft.com/office/drawing/2014/main" val="3982496066"/>
                    </a:ext>
                  </a:extLst>
                </a:gridCol>
                <a:gridCol w="851916">
                  <a:extLst>
                    <a:ext uri="{9D8B030D-6E8A-4147-A177-3AD203B41FA5}">
                      <a16:colId xmlns:a16="http://schemas.microsoft.com/office/drawing/2014/main" val="1360635942"/>
                    </a:ext>
                  </a:extLst>
                </a:gridCol>
                <a:gridCol w="696912">
                  <a:extLst>
                    <a:ext uri="{9D8B030D-6E8A-4147-A177-3AD203B41FA5}">
                      <a16:colId xmlns:a16="http://schemas.microsoft.com/office/drawing/2014/main" val="193467778"/>
                    </a:ext>
                  </a:extLst>
                </a:gridCol>
                <a:gridCol w="727075">
                  <a:extLst>
                    <a:ext uri="{9D8B030D-6E8A-4147-A177-3AD203B41FA5}">
                      <a16:colId xmlns:a16="http://schemas.microsoft.com/office/drawing/2014/main" val="2705784685"/>
                    </a:ext>
                  </a:extLst>
                </a:gridCol>
                <a:gridCol w="840994">
                  <a:extLst>
                    <a:ext uri="{9D8B030D-6E8A-4147-A177-3AD203B41FA5}">
                      <a16:colId xmlns:a16="http://schemas.microsoft.com/office/drawing/2014/main" val="3156144648"/>
                    </a:ext>
                  </a:extLst>
                </a:gridCol>
                <a:gridCol w="727075">
                  <a:extLst>
                    <a:ext uri="{9D8B030D-6E8A-4147-A177-3AD203B41FA5}">
                      <a16:colId xmlns:a16="http://schemas.microsoft.com/office/drawing/2014/main" val="1627553118"/>
                    </a:ext>
                  </a:extLst>
                </a:gridCol>
                <a:gridCol w="693737">
                  <a:extLst>
                    <a:ext uri="{9D8B030D-6E8A-4147-A177-3AD203B41FA5}">
                      <a16:colId xmlns:a16="http://schemas.microsoft.com/office/drawing/2014/main" val="4079729731"/>
                    </a:ext>
                  </a:extLst>
                </a:gridCol>
                <a:gridCol w="833501">
                  <a:extLst>
                    <a:ext uri="{9D8B030D-6E8A-4147-A177-3AD203B41FA5}">
                      <a16:colId xmlns:a16="http://schemas.microsoft.com/office/drawing/2014/main" val="1323345678"/>
                    </a:ext>
                  </a:extLst>
                </a:gridCol>
                <a:gridCol w="727075">
                  <a:extLst>
                    <a:ext uri="{9D8B030D-6E8A-4147-A177-3AD203B41FA5}">
                      <a16:colId xmlns:a16="http://schemas.microsoft.com/office/drawing/2014/main" val="2852543148"/>
                    </a:ext>
                  </a:extLst>
                </a:gridCol>
                <a:gridCol w="690754">
                  <a:extLst>
                    <a:ext uri="{9D8B030D-6E8A-4147-A177-3AD203B41FA5}">
                      <a16:colId xmlns:a16="http://schemas.microsoft.com/office/drawing/2014/main" val="1097407033"/>
                    </a:ext>
                  </a:extLst>
                </a:gridCol>
              </a:tblGrid>
              <a:tr h="7189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BE" sz="1300" b="1" u="none" strike="noStrike" dirty="0" err="1">
                          <a:effectLst/>
                        </a:rPr>
                        <a:t>n_cell</a:t>
                      </a:r>
                      <a:endParaRPr lang="nl-BE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BE" sz="1300" b="1" u="none" strike="noStrike">
                          <a:effectLst/>
                        </a:rPr>
                        <a:t>p</a:t>
                      </a:r>
                      <a:endParaRPr lang="nl-BE" sz="13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BE" sz="1300" b="1" u="none" strike="noStrike" dirty="0" err="1">
                          <a:effectLst/>
                        </a:rPr>
                        <a:t>mean_AE</a:t>
                      </a:r>
                      <a:endParaRPr lang="nl-BE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BE" sz="1300" b="1" u="none" strike="noStrike" dirty="0" err="1">
                          <a:effectLst/>
                        </a:rPr>
                        <a:t>var_AE</a:t>
                      </a:r>
                      <a:endParaRPr lang="nl-BE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BE" sz="1300" b="1" u="none" strike="noStrike" dirty="0">
                          <a:effectLst/>
                        </a:rPr>
                        <a:t>q95_AE</a:t>
                      </a:r>
                      <a:endParaRPr lang="nl-BE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BE" sz="1300" b="1" u="none" strike="noStrike" dirty="0" err="1">
                          <a:effectLst/>
                        </a:rPr>
                        <a:t>mean_ARE</a:t>
                      </a:r>
                      <a:endParaRPr lang="nl-BE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BE" sz="1300" b="1" u="none" strike="noStrike" dirty="0" err="1">
                          <a:effectLst/>
                        </a:rPr>
                        <a:t>var_ARE</a:t>
                      </a:r>
                      <a:endParaRPr lang="nl-BE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BE" sz="1300" b="1" u="none" strike="noStrike" dirty="0">
                          <a:effectLst/>
                        </a:rPr>
                        <a:t>q95_ARE</a:t>
                      </a:r>
                      <a:endParaRPr lang="nl-BE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BE" sz="1300" b="1" u="none" strike="noStrike" dirty="0" err="1">
                          <a:effectLst/>
                        </a:rPr>
                        <a:t>mean_ASE</a:t>
                      </a:r>
                      <a:endParaRPr lang="nl-BE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BE" sz="1300" b="1" u="none" strike="noStrike" dirty="0" err="1">
                          <a:effectLst/>
                        </a:rPr>
                        <a:t>var_ASE</a:t>
                      </a:r>
                      <a:endParaRPr lang="nl-BE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BE" sz="1300" b="1" u="none" strike="noStrike" dirty="0">
                          <a:effectLst/>
                        </a:rPr>
                        <a:t>q95_ASE</a:t>
                      </a:r>
                      <a:endParaRPr lang="nl-BE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BE" sz="1300" b="1" u="none" strike="noStrike" dirty="0" err="1">
                          <a:effectLst/>
                        </a:rPr>
                        <a:t>mean_LAE</a:t>
                      </a:r>
                      <a:endParaRPr lang="nl-BE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BE" sz="1300" b="1" u="none" strike="noStrike" dirty="0" err="1">
                          <a:effectLst/>
                        </a:rPr>
                        <a:t>var_LAE</a:t>
                      </a:r>
                      <a:endParaRPr lang="nl-BE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BE" sz="1300" b="1" u="none" strike="noStrike" dirty="0">
                          <a:effectLst/>
                        </a:rPr>
                        <a:t>q95_LAE</a:t>
                      </a:r>
                      <a:endParaRPr lang="nl-BE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BE" sz="1300" b="1" u="none" strike="noStrike" dirty="0" err="1">
                          <a:effectLst/>
                        </a:rPr>
                        <a:t>mean_TSE</a:t>
                      </a:r>
                      <a:endParaRPr lang="nl-BE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BE" sz="1300" b="1" u="none" strike="noStrike" dirty="0" err="1">
                          <a:effectLst/>
                        </a:rPr>
                        <a:t>var_TSE</a:t>
                      </a:r>
                      <a:endParaRPr lang="nl-BE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nl-BE" sz="1300" b="1" u="none" strike="noStrike" dirty="0">
                          <a:effectLst/>
                        </a:rPr>
                        <a:t>q95_TSE</a:t>
                      </a:r>
                      <a:endParaRPr lang="nl-BE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519283"/>
                  </a:ext>
                </a:extLst>
              </a:tr>
              <a:tr h="39721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 dirty="0">
                          <a:effectLst/>
                        </a:rPr>
                        <a:t>10000</a:t>
                      </a:r>
                      <a:endParaRPr lang="nl-BE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>
                          <a:effectLst/>
                        </a:rPr>
                        <a:t>0,01</a:t>
                      </a:r>
                      <a:endParaRPr lang="nl-BE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>
                          <a:effectLst/>
                        </a:rPr>
                        <a:t>0,000789</a:t>
                      </a:r>
                      <a:endParaRPr lang="nl-BE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 dirty="0">
                          <a:effectLst/>
                        </a:rPr>
                        <a:t>3,53E-07</a:t>
                      </a:r>
                      <a:endParaRPr lang="nl-BE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 dirty="0">
                          <a:effectLst/>
                        </a:rPr>
                        <a:t>0,0019</a:t>
                      </a:r>
                      <a:endParaRPr lang="nl-BE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>
                          <a:effectLst/>
                        </a:rPr>
                        <a:t>0,078877</a:t>
                      </a:r>
                      <a:endParaRPr lang="nl-BE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 dirty="0">
                          <a:effectLst/>
                        </a:rPr>
                        <a:t>0,003532</a:t>
                      </a:r>
                      <a:endParaRPr lang="nl-BE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 dirty="0">
                          <a:effectLst/>
                        </a:rPr>
                        <a:t>0,19</a:t>
                      </a:r>
                      <a:endParaRPr lang="nl-BE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 dirty="0">
                          <a:effectLst/>
                        </a:rPr>
                        <a:t>0,007927</a:t>
                      </a:r>
                      <a:endParaRPr lang="nl-BE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 dirty="0">
                          <a:effectLst/>
                        </a:rPr>
                        <a:t>3,57E-05</a:t>
                      </a:r>
                      <a:endParaRPr lang="nl-BE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>
                          <a:effectLst/>
                        </a:rPr>
                        <a:t>0,019096</a:t>
                      </a:r>
                      <a:endParaRPr lang="nl-BE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>
                          <a:effectLst/>
                        </a:rPr>
                        <a:t>-7,51015</a:t>
                      </a:r>
                      <a:endParaRPr lang="nl-BE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 dirty="0">
                          <a:effectLst/>
                        </a:rPr>
                        <a:t>0,934939</a:t>
                      </a:r>
                      <a:endParaRPr lang="nl-BE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>
                          <a:effectLst/>
                        </a:rPr>
                        <a:t>-6,2659</a:t>
                      </a:r>
                      <a:endParaRPr lang="nl-BE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>
                          <a:effectLst/>
                        </a:rPr>
                        <a:t>2,76607</a:t>
                      </a:r>
                      <a:endParaRPr lang="nl-BE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 dirty="0">
                          <a:effectLst/>
                        </a:rPr>
                        <a:t>0,844102</a:t>
                      </a:r>
                      <a:endParaRPr lang="nl-BE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>
                          <a:effectLst/>
                        </a:rPr>
                        <a:t>3,98436</a:t>
                      </a:r>
                      <a:endParaRPr lang="nl-BE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079903"/>
                  </a:ext>
                </a:extLst>
              </a:tr>
              <a:tr h="39721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 dirty="0">
                          <a:effectLst/>
                        </a:rPr>
                        <a:t>10000</a:t>
                      </a:r>
                      <a:endParaRPr lang="nl-BE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>
                          <a:effectLst/>
                        </a:rPr>
                        <a:t>0,03</a:t>
                      </a:r>
                      <a:endParaRPr lang="nl-BE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>
                          <a:effectLst/>
                        </a:rPr>
                        <a:t>0,001377</a:t>
                      </a:r>
                      <a:endParaRPr lang="nl-BE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 dirty="0">
                          <a:effectLst/>
                        </a:rPr>
                        <a:t>1,08E-06</a:t>
                      </a:r>
                      <a:endParaRPr lang="nl-BE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 dirty="0">
                          <a:effectLst/>
                        </a:rPr>
                        <a:t>0,0034</a:t>
                      </a:r>
                      <a:endParaRPr lang="nl-BE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>
                          <a:effectLst/>
                        </a:rPr>
                        <a:t>0,045887</a:t>
                      </a:r>
                      <a:endParaRPr lang="nl-BE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 dirty="0">
                          <a:effectLst/>
                        </a:rPr>
                        <a:t>0,001197</a:t>
                      </a:r>
                      <a:endParaRPr lang="nl-BE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 dirty="0">
                          <a:effectLst/>
                        </a:rPr>
                        <a:t>0,1133</a:t>
                      </a:r>
                      <a:endParaRPr lang="nl-BE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 dirty="0">
                          <a:effectLst/>
                        </a:rPr>
                        <a:t>0,008070</a:t>
                      </a:r>
                      <a:endParaRPr lang="nl-BE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 dirty="0">
                          <a:effectLst/>
                        </a:rPr>
                        <a:t>3,7E-05</a:t>
                      </a:r>
                      <a:endParaRPr lang="nl-BE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 dirty="0">
                          <a:effectLst/>
                        </a:rPr>
                        <a:t>0,019931</a:t>
                      </a:r>
                      <a:endParaRPr lang="nl-BE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>
                          <a:effectLst/>
                        </a:rPr>
                        <a:t>-6,96545</a:t>
                      </a:r>
                      <a:endParaRPr lang="nl-BE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 dirty="0">
                          <a:effectLst/>
                        </a:rPr>
                        <a:t>1,00984</a:t>
                      </a:r>
                      <a:endParaRPr lang="nl-BE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>
                          <a:effectLst/>
                        </a:rPr>
                        <a:t>-5,68398</a:t>
                      </a:r>
                      <a:endParaRPr lang="nl-BE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>
                          <a:effectLst/>
                        </a:rPr>
                        <a:t>3,29914</a:t>
                      </a:r>
                      <a:endParaRPr lang="nl-BE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>
                          <a:effectLst/>
                        </a:rPr>
                        <a:t>0,945093</a:t>
                      </a:r>
                      <a:endParaRPr lang="nl-BE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>
                          <a:effectLst/>
                        </a:rPr>
                        <a:t>4,56604</a:t>
                      </a:r>
                      <a:endParaRPr lang="nl-BE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72400"/>
                  </a:ext>
                </a:extLst>
              </a:tr>
              <a:tr h="39721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 dirty="0">
                          <a:effectLst/>
                        </a:rPr>
                        <a:t>10000</a:t>
                      </a:r>
                      <a:endParaRPr lang="nl-BE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>
                          <a:effectLst/>
                        </a:rPr>
                        <a:t>0,05</a:t>
                      </a:r>
                      <a:endParaRPr lang="nl-BE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>
                          <a:effectLst/>
                        </a:rPr>
                        <a:t>0,001717</a:t>
                      </a:r>
                      <a:endParaRPr lang="nl-BE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 dirty="0">
                          <a:effectLst/>
                        </a:rPr>
                        <a:t>1,66E-06</a:t>
                      </a:r>
                      <a:endParaRPr lang="nl-BE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 dirty="0">
                          <a:effectLst/>
                        </a:rPr>
                        <a:t>0,0042</a:t>
                      </a:r>
                      <a:endParaRPr lang="nl-BE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>
                          <a:effectLst/>
                        </a:rPr>
                        <a:t>0,034346</a:t>
                      </a:r>
                      <a:endParaRPr lang="nl-BE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 dirty="0">
                          <a:effectLst/>
                        </a:rPr>
                        <a:t>0,000666</a:t>
                      </a:r>
                      <a:endParaRPr lang="nl-BE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 dirty="0">
                          <a:effectLst/>
                        </a:rPr>
                        <a:t>0,084</a:t>
                      </a:r>
                      <a:endParaRPr lang="nl-BE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>
                          <a:effectLst/>
                        </a:rPr>
                        <a:t>0,007879</a:t>
                      </a:r>
                      <a:endParaRPr lang="nl-BE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 dirty="0">
                          <a:effectLst/>
                        </a:rPr>
                        <a:t>3,5E-05</a:t>
                      </a:r>
                      <a:endParaRPr lang="nl-BE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 dirty="0">
                          <a:effectLst/>
                        </a:rPr>
                        <a:t>0,019271</a:t>
                      </a:r>
                      <a:endParaRPr lang="nl-BE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 dirty="0">
                          <a:effectLst/>
                        </a:rPr>
                        <a:t>-6,75464</a:t>
                      </a:r>
                      <a:endParaRPr lang="nl-BE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 dirty="0">
                          <a:effectLst/>
                        </a:rPr>
                        <a:t>1,07003</a:t>
                      </a:r>
                      <a:endParaRPr lang="nl-BE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>
                          <a:effectLst/>
                        </a:rPr>
                        <a:t>-5,47267</a:t>
                      </a:r>
                      <a:endParaRPr lang="nl-BE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>
                          <a:effectLst/>
                        </a:rPr>
                        <a:t>3,5081</a:t>
                      </a:r>
                      <a:endParaRPr lang="nl-BE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>
                          <a:effectLst/>
                        </a:rPr>
                        <a:t>1,0071</a:t>
                      </a:r>
                      <a:endParaRPr lang="nl-BE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 dirty="0">
                          <a:effectLst/>
                        </a:rPr>
                        <a:t>4,77731</a:t>
                      </a:r>
                      <a:endParaRPr lang="nl-BE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4450152"/>
                  </a:ext>
                </a:extLst>
              </a:tr>
              <a:tr h="39721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 dirty="0">
                          <a:effectLst/>
                        </a:rPr>
                        <a:t>10000</a:t>
                      </a:r>
                      <a:endParaRPr lang="nl-BE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>
                          <a:effectLst/>
                        </a:rPr>
                        <a:t>0,1</a:t>
                      </a:r>
                      <a:endParaRPr lang="nl-BE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>
                          <a:effectLst/>
                        </a:rPr>
                        <a:t>0,002389</a:t>
                      </a:r>
                      <a:endParaRPr lang="nl-BE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 dirty="0">
                          <a:effectLst/>
                        </a:rPr>
                        <a:t>3,26E-06</a:t>
                      </a:r>
                      <a:endParaRPr lang="nl-BE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 dirty="0">
                          <a:effectLst/>
                        </a:rPr>
                        <a:t>0,0058</a:t>
                      </a:r>
                      <a:endParaRPr lang="nl-BE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>
                          <a:effectLst/>
                        </a:rPr>
                        <a:t>0,02389</a:t>
                      </a:r>
                      <a:endParaRPr lang="nl-BE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>
                          <a:effectLst/>
                        </a:rPr>
                        <a:t>0,000326</a:t>
                      </a:r>
                      <a:endParaRPr lang="nl-BE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 dirty="0">
                          <a:effectLst/>
                        </a:rPr>
                        <a:t>0,058</a:t>
                      </a:r>
                      <a:endParaRPr lang="nl-BE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>
                          <a:effectLst/>
                        </a:rPr>
                        <a:t>0,007963</a:t>
                      </a:r>
                      <a:endParaRPr lang="nl-BE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>
                          <a:effectLst/>
                        </a:rPr>
                        <a:t>3,62E-05</a:t>
                      </a:r>
                      <a:endParaRPr lang="nl-BE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 dirty="0">
                          <a:effectLst/>
                        </a:rPr>
                        <a:t>0,019333</a:t>
                      </a:r>
                      <a:endParaRPr lang="nl-BE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>
                          <a:effectLst/>
                        </a:rPr>
                        <a:t>-6,43339</a:t>
                      </a:r>
                      <a:endParaRPr lang="nl-BE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 dirty="0">
                          <a:effectLst/>
                        </a:rPr>
                        <a:t>1,11476</a:t>
                      </a:r>
                      <a:endParaRPr lang="nl-BE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 dirty="0">
                          <a:effectLst/>
                        </a:rPr>
                        <a:t>-5,1499</a:t>
                      </a:r>
                      <a:endParaRPr lang="nl-BE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 dirty="0">
                          <a:effectLst/>
                        </a:rPr>
                        <a:t>3,82573</a:t>
                      </a:r>
                      <a:endParaRPr lang="nl-BE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>
                          <a:effectLst/>
                        </a:rPr>
                        <a:t>1,06436</a:t>
                      </a:r>
                      <a:endParaRPr lang="nl-BE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 dirty="0">
                          <a:effectLst/>
                        </a:rPr>
                        <a:t>5,10005</a:t>
                      </a:r>
                      <a:endParaRPr lang="nl-BE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061858"/>
                  </a:ext>
                </a:extLst>
              </a:tr>
              <a:tr h="39721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>
                          <a:effectLst/>
                        </a:rPr>
                        <a:t>10000</a:t>
                      </a:r>
                      <a:endParaRPr lang="nl-BE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 dirty="0">
                          <a:effectLst/>
                        </a:rPr>
                        <a:t>0,3</a:t>
                      </a:r>
                      <a:endParaRPr lang="nl-BE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>
                          <a:effectLst/>
                        </a:rPr>
                        <a:t>0,003663</a:t>
                      </a:r>
                      <a:endParaRPr lang="nl-BE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 dirty="0">
                          <a:effectLst/>
                        </a:rPr>
                        <a:t>7,54E-06</a:t>
                      </a:r>
                      <a:endParaRPr lang="nl-BE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 dirty="0">
                          <a:effectLst/>
                        </a:rPr>
                        <a:t>0,009</a:t>
                      </a:r>
                      <a:endParaRPr lang="nl-BE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>
                          <a:effectLst/>
                        </a:rPr>
                        <a:t>0,012209</a:t>
                      </a:r>
                      <a:endParaRPr lang="nl-BE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>
                          <a:effectLst/>
                        </a:rPr>
                        <a:t>8,38E-05</a:t>
                      </a:r>
                      <a:endParaRPr lang="nl-BE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 dirty="0">
                          <a:effectLst/>
                        </a:rPr>
                        <a:t>0,03</a:t>
                      </a:r>
                      <a:endParaRPr lang="nl-BE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>
                          <a:effectLst/>
                        </a:rPr>
                        <a:t>0,007992</a:t>
                      </a:r>
                      <a:endParaRPr lang="nl-BE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>
                          <a:effectLst/>
                        </a:rPr>
                        <a:t>3,59E-05</a:t>
                      </a:r>
                      <a:endParaRPr lang="nl-BE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 dirty="0">
                          <a:effectLst/>
                        </a:rPr>
                        <a:t>0,01964</a:t>
                      </a:r>
                      <a:endParaRPr lang="nl-BE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>
                          <a:effectLst/>
                        </a:rPr>
                        <a:t>-6,00518</a:t>
                      </a:r>
                      <a:endParaRPr lang="nl-BE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>
                          <a:effectLst/>
                        </a:rPr>
                        <a:t>1,12441</a:t>
                      </a:r>
                      <a:endParaRPr lang="nl-BE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 dirty="0">
                          <a:effectLst/>
                        </a:rPr>
                        <a:t>-4,71053</a:t>
                      </a:r>
                      <a:endParaRPr lang="nl-BE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 dirty="0">
                          <a:effectLst/>
                        </a:rPr>
                        <a:t>4,25039</a:t>
                      </a:r>
                      <a:endParaRPr lang="nl-BE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 dirty="0">
                          <a:effectLst/>
                        </a:rPr>
                        <a:t>1,08908</a:t>
                      </a:r>
                      <a:endParaRPr lang="nl-BE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 dirty="0">
                          <a:effectLst/>
                        </a:rPr>
                        <a:t>5,5394</a:t>
                      </a:r>
                      <a:endParaRPr lang="nl-BE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689698"/>
                  </a:ext>
                </a:extLst>
              </a:tr>
              <a:tr h="39721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>
                          <a:effectLst/>
                        </a:rPr>
                        <a:t>10000</a:t>
                      </a:r>
                      <a:endParaRPr lang="nl-BE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 dirty="0">
                          <a:effectLst/>
                        </a:rPr>
                        <a:t>0,5</a:t>
                      </a:r>
                      <a:endParaRPr lang="nl-BE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>
                          <a:effectLst/>
                        </a:rPr>
                        <a:t>0,003992</a:t>
                      </a:r>
                      <a:endParaRPr lang="nl-BE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 dirty="0">
                          <a:effectLst/>
                        </a:rPr>
                        <a:t>9,2E-06</a:t>
                      </a:r>
                      <a:endParaRPr lang="nl-BE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 dirty="0">
                          <a:effectLst/>
                        </a:rPr>
                        <a:t>0,0098</a:t>
                      </a:r>
                      <a:endParaRPr lang="nl-BE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>
                          <a:effectLst/>
                        </a:rPr>
                        <a:t>0,007984</a:t>
                      </a:r>
                      <a:endParaRPr lang="nl-BE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>
                          <a:effectLst/>
                        </a:rPr>
                        <a:t>3,68E-05</a:t>
                      </a:r>
                      <a:endParaRPr lang="nl-BE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 dirty="0">
                          <a:effectLst/>
                        </a:rPr>
                        <a:t>0,0196</a:t>
                      </a:r>
                      <a:endParaRPr lang="nl-BE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>
                          <a:effectLst/>
                        </a:rPr>
                        <a:t>0,007984</a:t>
                      </a:r>
                      <a:endParaRPr lang="nl-BE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>
                          <a:effectLst/>
                        </a:rPr>
                        <a:t>3,68E-05</a:t>
                      </a:r>
                      <a:endParaRPr lang="nl-BE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 dirty="0">
                          <a:effectLst/>
                        </a:rPr>
                        <a:t>0,0196</a:t>
                      </a:r>
                      <a:endParaRPr lang="nl-BE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>
                          <a:effectLst/>
                        </a:rPr>
                        <a:t>-5,93085</a:t>
                      </a:r>
                      <a:endParaRPr lang="nl-BE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>
                          <a:effectLst/>
                        </a:rPr>
                        <a:t>1,16852</a:t>
                      </a:r>
                      <a:endParaRPr lang="nl-BE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 dirty="0">
                          <a:effectLst/>
                        </a:rPr>
                        <a:t>-4,62537</a:t>
                      </a:r>
                      <a:endParaRPr lang="nl-BE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>
                          <a:effectLst/>
                        </a:rPr>
                        <a:t>4,32457</a:t>
                      </a:r>
                      <a:endParaRPr lang="nl-BE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>
                          <a:effectLst/>
                        </a:rPr>
                        <a:t>1,13328</a:t>
                      </a:r>
                      <a:endParaRPr lang="nl-BE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BE" sz="1300" u="none" strike="noStrike" dirty="0">
                          <a:effectLst/>
                        </a:rPr>
                        <a:t>5,62455</a:t>
                      </a:r>
                      <a:endParaRPr lang="nl-BE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773638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665EBCA-0E7F-8301-A4FD-E1DD3BE72D22}"/>
                  </a:ext>
                </a:extLst>
              </p:cNvPr>
              <p:cNvSpPr txBox="1"/>
              <p:nvPr/>
            </p:nvSpPr>
            <p:spPr>
              <a:xfrm>
                <a:off x="-1085850" y="1652345"/>
                <a:ext cx="6094476" cy="384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lit/>
                        </m:rPr>
                        <a:rPr lang="en-US" sz="18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1800" b="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800" b="0" i="1">
                          <a:latin typeface="Cambria Math" panose="02040503050406030204" pitchFamily="18" charset="0"/>
                        </a:rPr>
                        <m:t> −</m:t>
                      </m:r>
                      <m:acc>
                        <m:accPr>
                          <m:chr m:val="̂"/>
                          <m:ctrlPr>
                            <a:rPr lang="en-US" sz="1800" b="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acc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665EBCA-0E7F-8301-A4FD-E1DD3BE72D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85850" y="1652345"/>
                <a:ext cx="6094476" cy="384208"/>
              </a:xfrm>
              <a:prstGeom prst="rect">
                <a:avLst/>
              </a:prstGeom>
              <a:blipFill>
                <a:blip r:embed="rId2"/>
                <a:stretch>
                  <a:fillRect t="-3175" b="-12698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5E6D8F5-4795-D706-D64B-3E2B3413277D}"/>
                  </a:ext>
                </a:extLst>
              </p:cNvPr>
              <p:cNvSpPr txBox="1"/>
              <p:nvPr/>
            </p:nvSpPr>
            <p:spPr>
              <a:xfrm>
                <a:off x="768096" y="1437163"/>
                <a:ext cx="6638544" cy="6662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nl-BE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 −</m:t>
                          </m:r>
                          <m:acc>
                            <m:accPr>
                              <m:chr m:val="̂"/>
                              <m:ctrlPr>
                                <a:rPr lang="en-US" sz="1800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|</m:t>
                          </m:r>
                        </m:num>
                        <m:den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5E6D8F5-4795-D706-D64B-3E2B341327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1437163"/>
                <a:ext cx="6638544" cy="6662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0F74EB5-9BE2-E9BB-F85E-42B53AA97CDD}"/>
                  </a:ext>
                </a:extLst>
              </p:cNvPr>
              <p:cNvSpPr txBox="1"/>
              <p:nvPr/>
            </p:nvSpPr>
            <p:spPr>
              <a:xfrm>
                <a:off x="3191256" y="1372175"/>
                <a:ext cx="6638544" cy="6978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nl-BE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</m:t>
                          </m:r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0F74EB5-9BE2-E9BB-F85E-42B53AA97C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1256" y="1372175"/>
                <a:ext cx="6638544" cy="6978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9C2A670-1D12-F171-093F-0FEDD671DAE8}"/>
                  </a:ext>
                </a:extLst>
              </p:cNvPr>
              <p:cNvSpPr txBox="1"/>
              <p:nvPr/>
            </p:nvSpPr>
            <p:spPr>
              <a:xfrm>
                <a:off x="5394960" y="1566159"/>
                <a:ext cx="66385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⁡(|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|)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9C2A670-1D12-F171-093F-0FEDD671DA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4960" y="1566159"/>
                <a:ext cx="6638544" cy="369332"/>
              </a:xfrm>
              <a:prstGeom prst="rect">
                <a:avLst/>
              </a:prstGeom>
              <a:blipFill>
                <a:blip r:embed="rId5"/>
                <a:stretch>
                  <a:fillRect t="-6557" b="-11475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12F06CA-69E7-609D-58F2-21D26BBAF544}"/>
                  </a:ext>
                </a:extLst>
              </p:cNvPr>
              <p:cNvSpPr txBox="1"/>
              <p:nvPr/>
            </p:nvSpPr>
            <p:spPr>
              <a:xfrm>
                <a:off x="7598664" y="1512594"/>
                <a:ext cx="6638544" cy="5068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asinh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ad>
                                <m:radPr>
                                  <m:deg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e>
                          </m:d>
                        </m:e>
                      </m:func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12F06CA-69E7-609D-58F2-21D26BBAF5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8664" y="1512594"/>
                <a:ext cx="6638544" cy="50687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440109C-297D-0584-6717-F8389F0C21FB}"/>
              </a:ext>
            </a:extLst>
          </p:cNvPr>
          <p:cNvSpPr txBox="1"/>
          <p:nvPr/>
        </p:nvSpPr>
        <p:spPr>
          <a:xfrm>
            <a:off x="597330" y="5722069"/>
            <a:ext cx="92324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this simulation, the standardized error produced the most stable distribution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Will this still be the case when introducing overdispersion?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518967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0FBA8-F356-6481-4E81-CD19B656E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8E7A4-922B-7482-3363-9DAD3C51D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Include multiple proportions</a:t>
            </a:r>
          </a:p>
          <a:p>
            <a:r>
              <a:rPr lang="en-US" dirty="0"/>
              <a:t>Introduce overdispersion</a:t>
            </a:r>
          </a:p>
          <a:p>
            <a:r>
              <a:rPr lang="en-US" dirty="0"/>
              <a:t>Combine with </a:t>
            </a:r>
            <a:r>
              <a:rPr lang="en-US" dirty="0" err="1"/>
              <a:t>Scopit</a:t>
            </a:r>
            <a:r>
              <a:rPr lang="en-US" dirty="0"/>
              <a:t>-type </a:t>
            </a:r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564960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429</Words>
  <Application>Microsoft Office PowerPoint</Application>
  <PresentationFormat>Widescreen</PresentationFormat>
  <Paragraphs>171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Cambria Math</vt:lpstr>
      <vt:lpstr>Wingdings</vt:lpstr>
      <vt:lpstr>Office Theme</vt:lpstr>
      <vt:lpstr>Cell proportion estimation</vt:lpstr>
      <vt:lpstr>Accuracy Metrics</vt:lpstr>
      <vt:lpstr>Initial simulation study</vt:lpstr>
      <vt:lpstr>Distribution of ARE and AE are dependent on p</vt:lpstr>
      <vt:lpstr>Other possible error metrics</vt:lpstr>
      <vt:lpstr>Advantages of variance stabilization </vt:lpstr>
      <vt:lpstr>Absolute Standardized Error</vt:lpstr>
      <vt:lpstr>Log Absolute Error</vt:lpstr>
      <vt:lpstr>Transformed Square Error</vt:lpstr>
      <vt:lpstr>Distributional characteristics of error metrics</vt:lpstr>
      <vt:lpstr>Next steps</vt:lpstr>
    </vt:vector>
  </TitlesOfParts>
  <Company>UHasselt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MEYNEN Frederik</dc:creator>
  <cp:lastModifiedBy>MEYNEN Frederik</cp:lastModifiedBy>
  <cp:revision>3</cp:revision>
  <dcterms:created xsi:type="dcterms:W3CDTF">2026-04-28T19:02:45Z</dcterms:created>
  <dcterms:modified xsi:type="dcterms:W3CDTF">2026-04-30T09:04:18Z</dcterms:modified>
</cp:coreProperties>
</file>